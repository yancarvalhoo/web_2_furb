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083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830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</a:t>
            </a:r>
            <a:endParaRPr lang="en-US" sz="9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Arquitetura, Protocolo e Integração de Sistemas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12700">
            <a:solidFill>
              <a:srgbClr val="2448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Desenvolvimento Web 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hoje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jornada em dois blocos: fundamentação teórica sólida sobre SOAP e, na sequência, a mão na massa em JavaScript.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5257800" cy="566928"/>
          </a:xfrm>
          <a:prstGeom prst="roundRect">
            <a:avLst>
              <a:gd name="adj" fmla="val 16129"/>
            </a:avLst>
          </a:prstGeom>
          <a:solidFill>
            <a:srgbClr val="11294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40864"/>
            <a:ext cx="5257800" cy="283464"/>
          </a:xfrm>
          <a:prstGeom prst="rect">
            <a:avLst/>
          </a:prstGeom>
          <a:solidFill>
            <a:srgbClr val="11294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TEORIA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Web Services e contexto histórico do SOAP</a:t>
            </a:r>
            <a:endParaRPr lang="en-US" sz="13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Anatomia da mensagem SOAP (Envelope, Header, Body, Fault)</a:t>
            </a:r>
            <a:endParaRPr lang="en-US" sz="13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WSDL e XML Schema — o contrato do serviço</a:t>
            </a:r>
            <a:endParaRPr lang="en-US" sz="13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Segurança: WS-Security e família WS-*</a:t>
            </a:r>
            <a:endParaRPr lang="en-US" sz="13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SOAP x REST: arquitetura, trade-offs e quando usar cada um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057400"/>
            <a:ext cx="5257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2340864"/>
            <a:ext cx="5257800" cy="2834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05740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PRÁTICA (JavaScript)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Setup do ambiente: Node.js + VSCode + pacote soap</a:t>
            </a:r>
            <a:endParaRPr lang="en-US" sz="13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Consumindo um Web Service SOAP público (cliente)</a:t>
            </a:r>
            <a:endParaRPr lang="en-US" sz="13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Lendo e interpretando um WSDL real</a:t>
            </a:r>
            <a:endParaRPr lang="en-US" sz="13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Construindo nosso próprio servidor SOAP</a:t>
            </a:r>
            <a:endParaRPr lang="en-US" sz="13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Testes, depuração e exercício para casa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1294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331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2697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Services e a origem do SOAP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0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mergulhar no protocolo, entender por que ele existe.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CONCEITO-BASE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Web Service?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39" y="1508760"/>
            <a:ext cx="1072865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endParaRPr lang="en-US" sz="1500" b="1" dirty="0">
              <a:solidFill>
                <a:srgbClr val="1129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que expõe funcionalidades pela rede</a:t>
            </a:r>
            <a:endParaRPr lang="en-US" sz="1500" dirty="0"/>
          </a:p>
          <a:p>
            <a:pPr>
              <a:spcAft>
                <a:spcPts val="1200"/>
              </a:spcAft>
              <a:buSzPct val="100000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aplicações diferentes — em linguagens e plataformas distintas — troquem dados e invoquem operações umas das outras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endParaRPr lang="en-US" sz="1500" b="1" dirty="0">
              <a:solidFill>
                <a:srgbClr val="1129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 err="1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Interoperabilidade</a:t>
            </a: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palavra-chave</a:t>
            </a:r>
            <a:endParaRPr lang="en-US" sz="1500" dirty="0"/>
          </a:p>
          <a:p>
            <a:pPr>
              <a:spcAft>
                <a:spcPts val="1200"/>
              </a:spcAft>
              <a:buSzPct val="100000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em Java pode conversar com um sistema em .NET, que conversa com um sistema em PHP, todos usando o mesmo Web Service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endParaRPr lang="en-US" sz="1500" b="1" dirty="0">
              <a:solidFill>
                <a:srgbClr val="1129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 err="1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protocolos padronizados</a:t>
            </a:r>
            <a:endParaRPr lang="en-US" sz="1500" dirty="0"/>
          </a:p>
          <a:p>
            <a:pPr>
              <a:spcAft>
                <a:spcPts val="1200"/>
              </a:spcAft>
              <a:buSzPct val="100000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sobre HTTP/HTTPS, usando XML ou JSON como formato de troca de dados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endParaRPr lang="en-US" sz="1500" b="1" dirty="0">
              <a:solidFill>
                <a:srgbClr val="1129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 err="1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</a:t>
            </a: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grandes estilos dominam o mercado</a:t>
            </a:r>
            <a:endParaRPr lang="en-US" sz="1500" dirty="0"/>
          </a:p>
          <a:p>
            <a:pPr>
              <a:spcAft>
                <a:spcPts val="1200"/>
              </a:spcAft>
              <a:buSzPct val="100000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(baseado em protocolo e contrato rígido) e REST (baseado em recursos e HTTP verbs)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veio o SOAP?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830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1294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25856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XML-RPC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62432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Winer cria um protocolo simples de chamada remota usando XML. Base conceitual do que viria a seguir.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60020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7830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12947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1999-2000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25856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Nasce o SOAP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62432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com colaboração de Dave Winer, DevelopMentor e IBM, propõe o SOAP (Simple Object Access Protocol) como evolução do XML-RPC.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60020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7830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12947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11312" y="225856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 1.1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11312" y="262432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Submetido ao W3C. Passa a ser adotado amplamente na integração de sistemas corporativos (era das arquiteturas SOA).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3434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7DA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481888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 1.2 — W3C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518464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Torna-se recomendação oficial do W3C. O nome deixa de ser um acrônimo — SOAP passa a ser apenas "SOAP".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416052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3434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7DA0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481888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 SOA corporativa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518464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+ WSDL + UDDI formam a espinha dorsal de sistemas bancários, governamentais e de grandes ERPs (SAP, Oracle).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10144" y="416052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1312" y="43434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7DA0"/>
          </a:solidFill>
          <a:ln/>
        </p:spPr>
      </p:sp>
      <p:sp>
        <p:nvSpPr>
          <p:cNvPr id="31" name="Text 29"/>
          <p:cNvSpPr/>
          <p:nvPr/>
        </p:nvSpPr>
        <p:spPr>
          <a:xfrm>
            <a:off x="8211312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11312" y="481888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Convivência com REST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11312" y="518464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domina APIs públicas e mobile; SOAP permanece forte em sistemas legados, financeiros e que exigem contratos rígidos.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Estilos de integração de sistemas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1965960"/>
            <a:ext cx="731520" cy="731520"/>
          </a:xfrm>
          <a:prstGeom prst="ellipse">
            <a:avLst/>
          </a:prstGeom>
          <a:solidFill>
            <a:srgbClr val="5B7186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8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RPC clássico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remota de procedimentos (CORBA, RMI, DCOM). Fortemente acoplado à plataforma. Pouco interoperável.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0540" y="1965960"/>
            <a:ext cx="731520" cy="731520"/>
          </a:xfrm>
          <a:prstGeom prst="ellipse">
            <a:avLst/>
          </a:prstGeom>
          <a:solidFill>
            <a:srgbClr val="112947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80" dirty="0"/>
          </a:p>
        </p:txBody>
      </p:sp>
      <p:sp>
        <p:nvSpPr>
          <p:cNvPr id="12" name="Text 10"/>
          <p:cNvSpPr/>
          <p:nvPr/>
        </p:nvSpPr>
        <p:spPr>
          <a:xfrm>
            <a:off x="356616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4290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baseado em XML, com contrato formal (WSDL). Orientado a operações/mensagens. Alta formalidade e interoperabilidade.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5180" y="1965960"/>
            <a:ext cx="731520" cy="731520"/>
          </a:xfrm>
          <a:prstGeom prst="ellipse">
            <a:avLst/>
          </a:prstGeom>
          <a:solidFill>
            <a:srgbClr val="2C7DA0"/>
          </a:solidFill>
          <a:ln/>
        </p:spPr>
      </p:sp>
      <p:sp>
        <p:nvSpPr>
          <p:cNvPr id="16" name="Text 14"/>
          <p:cNvSpPr/>
          <p:nvPr/>
        </p:nvSpPr>
        <p:spPr>
          <a:xfrm>
            <a:off x="71551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80" dirty="0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4290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arquitetural sobre HTTP. Orientado a recursos, usa os verbos HTTP e normalmente JSON. Leve e simples.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4592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89820" y="196596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99898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80" dirty="0"/>
          </a:p>
        </p:txBody>
      </p:sp>
      <p:sp>
        <p:nvSpPr>
          <p:cNvPr id="22" name="Text 20"/>
          <p:cNvSpPr/>
          <p:nvPr/>
        </p:nvSpPr>
        <p:spPr>
          <a:xfrm>
            <a:off x="923544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GraphQL / gRPC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4290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Abordagens modernas: consultas flexíveis (GraphQL) ou RPC binário de alta performance (gRPC), usadas em nichos específicos.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SOAP, afinal?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= Simple Object Access Protocol</a:t>
            </a:r>
            <a:endParaRPr lang="en-US" sz="1500" dirty="0"/>
          </a:p>
          <a:p>
            <a:pPr>
              <a:spcAft>
                <a:spcPts val="1200"/>
              </a:spcAft>
              <a:buSzPct val="100000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protocolo de troca de mensagens estruturadas, baseado inteiramente em XML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de linguagem e de plataforma</a:t>
            </a:r>
            <a:endParaRPr lang="en-US" sz="1500" dirty="0"/>
          </a:p>
          <a:p>
            <a:pPr>
              <a:spcAft>
                <a:spcPts val="1200"/>
              </a:spcAft>
              <a:buSzPct val="100000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cliente em Python pode chamar um serviço escrito em Java sem que nenhum dos dois conheça a implementação do outro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de transporte</a:t>
            </a:r>
            <a:endParaRPr lang="en-US" sz="1500" dirty="0"/>
          </a:p>
          <a:p>
            <a:pPr>
              <a:spcAft>
                <a:spcPts val="1200"/>
              </a:spcAft>
              <a:buSzPct val="100000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comum sobre HTTP/HTTPS, mas também funciona sobre SMTP, TCP, JMS, entre outros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contrato formal</a:t>
            </a:r>
            <a:endParaRPr lang="en-US" sz="1500" dirty="0"/>
          </a:p>
          <a:p>
            <a:pPr>
              <a:spcAft>
                <a:spcPts val="1200"/>
              </a:spcAft>
              <a:buSzPct val="100000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WSDL descreve exatamente quais operações existem, quais parâmetros esperam e quais tipos de dados retornam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EEF3F8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CARACTERÍSTICAS-CHAVE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0" y="22402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587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apenas um formato, define regras de troca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31546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Extensível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3502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WS-Security, WS-Addressing, etc.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40690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4416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a linguagem e transporte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49834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5056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5330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XML Schema para validar dados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uma mensagem SOAP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mensagem SOAP é um documento XML com uma estrutura fixa e previsível: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78638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25400">
            <a:solidFill>
              <a:srgbClr val="1129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ENVELOPE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raiz — define os namespaces XML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88720" y="2834640"/>
            <a:ext cx="7132320" cy="1005840"/>
          </a:xfrm>
          <a:prstGeom prst="roundRect">
            <a:avLst>
              <a:gd name="adj" fmla="val 5455"/>
            </a:avLst>
          </a:prstGeom>
          <a:solidFill>
            <a:srgbClr val="E4ECF5"/>
          </a:solidFill>
          <a:ln w="15875">
            <a:solidFill>
              <a:srgbClr val="2C7D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944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 (opcional)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17320" y="327355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Metadados: autenticação, transações, IDs de correlação, WS-Security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3977640"/>
            <a:ext cx="7132320" cy="1371600"/>
          </a:xfrm>
          <a:prstGeom prst="roundRect">
            <a:avLst>
              <a:gd name="adj" fmla="val 4000"/>
            </a:avLst>
          </a:prstGeom>
          <a:solidFill>
            <a:srgbClr val="FCEFDA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087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C6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(obrigatório)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17320" y="441655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real da mensagem: a chamada da operação e seus parâmetros, ou a resposta retornada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63040" y="4983480"/>
            <a:ext cx="6583680" cy="868680"/>
          </a:xfrm>
          <a:prstGeom prst="roundRect">
            <a:avLst>
              <a:gd name="adj" fmla="val 6316"/>
            </a:avLst>
          </a:prstGeom>
          <a:solidFill>
            <a:srgbClr val="FBE1E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5074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 (em caso de erro)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53766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motivo e detalhes do erro, dentro do próprio Body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6112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0" y="2304288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é sempre obrigatório e único. Header é opcional. Body é obrigatório e carrega o conteúdo. Fault só aparece dentro do Body quando algo falha.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requisição SOAP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para consultar um produto — repare no Header (autenticação) e no Body (operação + parâmetro).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617720"/>
          </a:xfrm>
          <a:prstGeom prst="roundRect">
            <a:avLst>
              <a:gd name="adj" fmla="val 1584"/>
            </a:avLst>
          </a:prstGeom>
          <a:solidFill>
            <a:srgbClr val="0B1E3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9659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10424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&lt;soap:Envelope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xmlns:soap="http://www.w3.org/2003/05/soap-envelope"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xmlns:m="http://exemplo.com/estoque"&gt;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&lt;soap:Header&gt;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&lt;m:Autenticacao&gt;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&lt;m:Token&gt;abc123token&lt;/m:Token&gt;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&lt;/m:Autenticacao&gt;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&lt;/soap:Header&gt;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&lt;soap:Body&gt;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&lt;m:ConsultarProduto&gt;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&lt;m:codigo&gt;7891&lt;/m:codigo&gt;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&lt;/m:ConsultarProduto&gt;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&lt;/soap:Body&gt;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&lt;/soap:Envelope&gt;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 Fault: quando algo dá errado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é a forma padronizada de reportar erro no SOAP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retornado dentro do &lt;Body&gt;, com estrutura própria e previsível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faultcode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do erro: VersionMismatch, MustUnderstand, Client, Server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faultstring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legível por humanos explicando o problema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adicionais específicas da aplicação (ex.: campo inválido, código interno)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sobre REST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do erro é padronizado pelo próprio protocolo — não depende de convenção da equipe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0B1E3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&lt;soap:Fault&gt;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0" y="224028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&lt;faultcode&gt;soap:Client&lt;/faultcode&gt;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&lt;faultstring&gt;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Código de produto inválido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&lt;/faultstring&gt;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&lt;detail&gt;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&lt;m:erro&gt;Campo 'codigo'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fora do padrão&lt;/m:erro&gt;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&lt;/detail&gt;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&lt;/soap:Fault&gt;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DE TRANSPORTE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 não depende do HTTP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ser um protocolo de mensagens em XML, o envelope SOAP pode trafegar sobre diferentes protocolos de transporte: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7744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11294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comum. Usa POST para enviar o envelope; o cabeçalho SOAPAction identifica a operação.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37744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2C7DA0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377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39312" y="3017520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SOAP podem ser enviadas por e-mail, úteis em processos assíncronos.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37744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377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JMS / Filas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3952" y="3017520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middlewares de mensageria corporativa (ex.: IBM MQ, ActiveMQ).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237744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5B7186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377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puro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08592" y="3017520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de altíssima performance interna, sem a sobrecarga do HTTP.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de hoje usaremos HTTP — o transporte mais utilizado no mercado.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WSDL: o contrato do serviço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WSDL = Web Services Description Language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XML que descreve, de forma completa e formal, tudo o que um Web Service SOAP oferece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"planta baixa" do serviço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quais operações existem, quais parâmetros cada uma espera, o que retorna e onde o serviço está hospedado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geração automática de código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leem o WSDL e geram classes/stubs de cliente automaticamente — em Java, C#, JavaScript e outras linguagens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principal diferença estrutural frente ao REST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normalmente não exige um contrato formal tão rígido (ainda que existam OpenAPI/Swagger como equivalentes)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CONTRATO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de um documento WSDL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11294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&lt;types&gt;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63240" y="1691640"/>
            <a:ext cx="8229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os tipos de dados usados nas mensagens, geralmente com XML Schema (XSD).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08813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32888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11294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32888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&lt;message&gt;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63240" y="2532888"/>
            <a:ext cx="8229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os dados trocados: uma mensagem de entrada e uma de saída por operação.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08813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74136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11294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74136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&lt;portType / interface&gt;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63240" y="3374136"/>
            <a:ext cx="8229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operações disponíveis — o "o que" o serviço faz.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108813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15384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11294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15384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&lt;binding&gt;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63240" y="4215384"/>
            <a:ext cx="8229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"como" as mensagens são transmitidas: protocolo (SOAP), estilo, formato.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08813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56632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11294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056632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&lt;service / port&gt;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63240" y="5056632"/>
            <a:ext cx="8229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onde o serviço está publicado — a URL final (endpoint).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FORTE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Schema (XSD): tipando os dados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linguagem para definir a estrutura, os tipos e as regras de validação de documentos XML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dentro do SOAP/WSDL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usada na seção &lt;types&gt; do WSDL para especificar exatamente como cada dado deve ser formatado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primitivos e complexos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xs:string, xs:int, xs:date, xs:boolean — e tipos compostos (complexType) que representam objetos inteiros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automática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mensagem SOAP pode ser validada contra o XSD antes mesmo de chegar à lógica de negócio — reduz erros em produção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0B1E3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82880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&lt;xs:complexType name="Produto"&gt;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&lt;xs:sequence&gt;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&lt;xs:element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name="codigo"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type="xs:int"/&gt;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&lt;xs:element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name="nome"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type="xs:string"/&gt;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&lt;xs:element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name="preco"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type="xs:decimal"/&gt;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&lt;/xs:sequence&gt;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&lt;/xs:complexType&gt;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HISTÓRICO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UDDI: o "catálogo telefônico" dos Web 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UDDI = Universal Description, Discovery and Integration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diretório para publicar e descobrir Web Services SOAP disponíveis, de forma centralizada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original (SOA clássica)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publica seu serviço no UDDI → outra empresa "descobre" o serviço → consulta o WSDL → integra automaticamente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caiu em desuso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alta, baixa adoção prática e a maioria das integrações passou a ser combinada diretamente entre parceiros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hoje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conhecer pelo contexto histórico e para entender a tríade clássica SOAP + WSDL + UDDI da era SOA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Segurança: WS-Security e a família WS-*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WS-Security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para autenticação, criptografia e assinatura digital diretamente no Header da mensagem SOAP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em nível de mensagem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HTTPS (que protege o "cano"), o WS-Security pode criptografar apenas partes específicas da mensagem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padrões da família WS-*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WS-Addressing (roteamento), WS-ReliableMessaging (garantia de entrega), WS-AtomicTransaction (transações distribuídas)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dos motivos pelos quais bancos e governos ainda confiam fortemente no SOAP para sistemas críticos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CRÍTICO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 desvantagens do SOAP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8F5E9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formal (WSDL) reduz ambiguidade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robusto de segurança (WS-Security)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transações distribuídas confiáveis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de transporte (não só HTTP)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 padronizado (Fault)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Maduro e testado em sistemas críticos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BEAEA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132320" y="1874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XML são verbosas e pesadas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maior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amigável para APIs públicas/mobile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de performance em relação ao REST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modernas priorizam JSON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adoção em novos projetos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1294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697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 x REST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RELEMBRANDO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em poucos princípios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State Transfer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arquitetural (não um protocolo) proposto por Roy Fielding em 2000, baseado nos princípios do próprio HTTP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recursos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é um recurso identificado por uma URL: /clientes, /clientes/42, /pedidos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os verbos HTTP com significado semântico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(ler), POST (criar), PUT/PATCH (atualizar), DELETE (remover)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 cacheável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requisição é independente; respostas podem ser cacheadas, favorecendo escalabilidade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flexível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JSON, mas pode usar XML, texto puro ou outros formatos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LADO A LADO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jeitos de pensar integração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1129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257800" cy="320040"/>
          </a:xfrm>
          <a:prstGeom prst="rect">
            <a:avLst/>
          </a:prstGeom>
          <a:solidFill>
            <a:srgbClr val="11294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550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002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operações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468880"/>
            <a:ext cx="4800600" cy="3108960"/>
          </a:xfrm>
          <a:prstGeom prst="roundRect">
            <a:avLst>
              <a:gd name="adj" fmla="val 1765"/>
            </a:avLst>
          </a:prstGeom>
          <a:solidFill>
            <a:srgbClr val="0B1E3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51760"/>
            <a:ext cx="4343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/Servico HTTP/1.1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SOAPAction: "ConsultarProduto"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&lt;Envelope&gt;&lt;Body&gt;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&lt;ConsultarProduto&gt;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&lt;codigo&gt;7891&lt;/codigo&gt;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&lt;/ConsultarProduto&gt;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&lt;/Body&gt;&lt;/Envelope&gt;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60020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2C7DA0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965960"/>
            <a:ext cx="5257800" cy="32004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6550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2002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recursos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4800600" cy="3108960"/>
          </a:xfrm>
          <a:prstGeom prst="roundRect">
            <a:avLst>
              <a:gd name="adj" fmla="val 1765"/>
            </a:avLst>
          </a:prstGeom>
          <a:solidFill>
            <a:srgbClr val="0B1E33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651760"/>
            <a:ext cx="4343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/produtos/7891 HTTP/1.1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application/json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resposta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"codigo": 7891,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"nome": "Caneta"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DIRETA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 x REST em detalhe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834640" cy="438912"/>
          </a:xfrm>
          <a:prstGeom prst="rect">
            <a:avLst/>
          </a:prstGeom>
          <a:solidFill>
            <a:srgbClr val="112947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508760"/>
            <a:ext cx="4023360" cy="438912"/>
          </a:xfrm>
          <a:prstGeom prst="rect">
            <a:avLst/>
          </a:prstGeom>
          <a:solidFill>
            <a:srgbClr val="112947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5087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508760"/>
            <a:ext cx="4023360" cy="438912"/>
          </a:xfrm>
          <a:prstGeom prst="rect">
            <a:avLst/>
          </a:prstGeom>
          <a:solidFill>
            <a:srgbClr val="112947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5087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2834640" cy="438912"/>
          </a:xfrm>
          <a:prstGeom prst="rect">
            <a:avLst/>
          </a:prstGeom>
          <a:solidFill>
            <a:srgbClr val="EEF3F8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47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1947672"/>
            <a:ext cx="4023360" cy="438912"/>
          </a:xfrm>
          <a:prstGeom prst="rect">
            <a:avLst/>
          </a:prstGeom>
          <a:solidFill>
            <a:srgbClr val="DCEAF6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9476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formal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1947672"/>
            <a:ext cx="4023360" cy="438912"/>
          </a:xfrm>
          <a:prstGeom prst="rect">
            <a:avLst/>
          </a:prstGeom>
          <a:solidFill>
            <a:srgbClr val="FBEACE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9476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arquitetural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86584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3865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dados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2386584"/>
            <a:ext cx="4023360" cy="438912"/>
          </a:xfrm>
          <a:prstGeom prst="rect">
            <a:avLst/>
          </a:prstGeom>
          <a:solidFill>
            <a:srgbClr val="E9F1FA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3865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(obrigatório)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2386584"/>
            <a:ext cx="4023360" cy="438912"/>
          </a:xfrm>
          <a:prstGeom prst="rect">
            <a:avLst/>
          </a:prstGeom>
          <a:solidFill>
            <a:srgbClr val="FDF3E3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3865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XML, texto...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825496"/>
            <a:ext cx="2834640" cy="438912"/>
          </a:xfrm>
          <a:prstGeom prst="rect">
            <a:avLst/>
          </a:prstGeom>
          <a:solidFill>
            <a:srgbClr val="EEF3F8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82549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2825496"/>
            <a:ext cx="4023360" cy="438912"/>
          </a:xfrm>
          <a:prstGeom prst="rect">
            <a:avLst/>
          </a:prstGeom>
          <a:solidFill>
            <a:srgbClr val="DCEAF6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8254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WSDL (rígido)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06640" y="2825496"/>
            <a:ext cx="4023360" cy="438912"/>
          </a:xfrm>
          <a:prstGeom prst="rect">
            <a:avLst/>
          </a:prstGeom>
          <a:solidFill>
            <a:srgbClr val="FBEACE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28254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OpenAPI/Swagger (opcional)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264408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2644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3264408"/>
            <a:ext cx="4023360" cy="438912"/>
          </a:xfrm>
          <a:prstGeom prst="rect">
            <a:avLst/>
          </a:prstGeom>
          <a:solidFill>
            <a:srgbClr val="E9F1FA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2644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SMTP, JMS, TCP...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06640" y="3264408"/>
            <a:ext cx="4023360" cy="438912"/>
          </a:xfrm>
          <a:prstGeom prst="rect">
            <a:avLst/>
          </a:prstGeom>
          <a:solidFill>
            <a:srgbClr val="FDF3E3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32644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só HTTP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703320"/>
            <a:ext cx="2834640" cy="438912"/>
          </a:xfrm>
          <a:prstGeom prst="rect">
            <a:avLst/>
          </a:prstGeom>
          <a:solidFill>
            <a:srgbClr val="EEF3F8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7033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83280" y="3703320"/>
            <a:ext cx="4023360" cy="438912"/>
          </a:xfrm>
          <a:prstGeom prst="rect">
            <a:avLst/>
          </a:prstGeom>
          <a:solidFill>
            <a:srgbClr val="DCEAF6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37033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WS-Security (msg-level)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06640" y="3703320"/>
            <a:ext cx="4023360" cy="438912"/>
          </a:xfrm>
          <a:prstGeom prst="rect">
            <a:avLst/>
          </a:prstGeom>
          <a:solidFill>
            <a:srgbClr val="FBEACE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37033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OAuth/JWT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142232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1422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383280" y="4142232"/>
            <a:ext cx="4023360" cy="438912"/>
          </a:xfrm>
          <a:prstGeom prst="rect">
            <a:avLst/>
          </a:prstGeom>
          <a:solidFill>
            <a:srgbClr val="E9F1FA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41422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stateful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06640" y="4142232"/>
            <a:ext cx="4023360" cy="438912"/>
          </a:xfrm>
          <a:prstGeom prst="rect">
            <a:avLst/>
          </a:prstGeom>
          <a:solidFill>
            <a:srgbClr val="FDF3E3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41422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por princípio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4581144"/>
            <a:ext cx="2834640" cy="438912"/>
          </a:xfrm>
          <a:prstGeom prst="rect">
            <a:avLst/>
          </a:prstGeom>
          <a:solidFill>
            <a:srgbClr val="EEF3F8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45811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383280" y="4581144"/>
            <a:ext cx="4023360" cy="438912"/>
          </a:xfrm>
          <a:prstGeom prst="rect">
            <a:avLst/>
          </a:prstGeom>
          <a:solidFill>
            <a:srgbClr val="DCEAF6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20440" y="45811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pesado (verboso)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406640" y="4581144"/>
            <a:ext cx="4023360" cy="438912"/>
          </a:xfrm>
          <a:prstGeom prst="rect">
            <a:avLst/>
          </a:prstGeom>
          <a:solidFill>
            <a:srgbClr val="FBEACE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45811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leve e rápido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020056"/>
            <a:ext cx="2834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50200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383280" y="5020056"/>
            <a:ext cx="4023360" cy="438912"/>
          </a:xfrm>
          <a:prstGeom prst="rect">
            <a:avLst/>
          </a:prstGeom>
          <a:solidFill>
            <a:srgbClr val="E9F1FA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0440" y="5020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Fault padronizado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406640" y="5020056"/>
            <a:ext cx="4023360" cy="438912"/>
          </a:xfrm>
          <a:prstGeom prst="rect">
            <a:avLst/>
          </a:prstGeom>
          <a:solidFill>
            <a:srgbClr val="FDF3E3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43800" y="5020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status HTTP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48640" y="5458968"/>
            <a:ext cx="2834640" cy="438912"/>
          </a:xfrm>
          <a:prstGeom prst="rect">
            <a:avLst/>
          </a:prstGeom>
          <a:solidFill>
            <a:srgbClr val="EEF3F8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5458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3383280" y="5458968"/>
            <a:ext cx="4023360" cy="438912"/>
          </a:xfrm>
          <a:prstGeom prst="rect">
            <a:avLst/>
          </a:prstGeom>
          <a:solidFill>
            <a:srgbClr val="DCEAF6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20440" y="5458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Bancos, governo, ERPs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406640" y="5458968"/>
            <a:ext cx="4023360" cy="438912"/>
          </a:xfrm>
          <a:prstGeom prst="rect">
            <a:avLst/>
          </a:prstGeom>
          <a:solidFill>
            <a:srgbClr val="FBEACE"/>
          </a:solidFill>
          <a:ln w="6350">
            <a:solidFill>
              <a:srgbClr val="D7E0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43800" y="5458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públicas, mobile, web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DECISÃO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escolher SOAP ou REST?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1129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257800" cy="320040"/>
          </a:xfrm>
          <a:prstGeom prst="rect">
            <a:avLst/>
          </a:prstGeom>
          <a:solidFill>
            <a:srgbClr val="11294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Prefira SOAP quando...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financeiros e bancários (padrão do mercado)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governamentais (ex.: NF-e no Brasil)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que exigem transação distribuída (ACID)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rígidos entre grandes organizações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nível de mensagem é obrigatória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64592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2C7DA0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965960"/>
            <a:ext cx="5257800" cy="320040"/>
          </a:xfrm>
          <a:prstGeom prst="rect">
            <a:avLst/>
          </a:prstGeom>
          <a:solidFill>
            <a:srgbClr val="2C7D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459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Prefira REST quando...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públicas para desenvolvedores externos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mobile e SPAs (React, Angular, Vue)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Microsserviços internos leves e rápidos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pequenos que priorizam velocidade de entrega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serviços de terceiros modernos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SOAP continua vivo no Brasil e no mundo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Fiscal Eletrônica (NF-e / SEFAZ)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comunicação entre empresas e a Receita Federal para emissão de notas fiscais é feita via Web Services SOAP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bancários e SPB (Sistema de Pagamentos Brasileiro)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parte da integração entre instituições financeiras ainda roda sobre SOAP por questões de segurança e auditoria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 corporativos (SAP, Oracle, TOTVS)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legados expõem e consomem funcionalidades via SOAP em integrações internas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Correios e logística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rastreamento e cálculo de frete historicamente disponibilizados via SOAP (com migração gradual para REST)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1294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697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prática em JavaScript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PREPARANDO O TERRENO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da parte prática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1965960"/>
            <a:ext cx="640080" cy="640080"/>
          </a:xfrm>
          <a:prstGeom prst="ellipse">
            <a:avLst/>
          </a:prstGeom>
          <a:solidFill>
            <a:srgbClr val="112947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JavaScript no servidor. Vamos usar para rodar o cliente e o servidor SOAP.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6260" y="1965960"/>
            <a:ext cx="640080" cy="640080"/>
          </a:xfrm>
          <a:prstGeom prst="ellipse">
            <a:avLst/>
          </a:prstGeom>
          <a:solidFill>
            <a:srgbClr val="2C7DA0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291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código onde escreveremos, executaremos e depuraremos os scripts.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00900" y="196596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72009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+ pacote soap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291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Gerenciador de pacotes e a biblioteca `soap`, que implementa cliente e servidor SOAP em JS.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35540" y="1965960"/>
            <a:ext cx="640080" cy="640080"/>
          </a:xfrm>
          <a:prstGeom prst="ellipse">
            <a:avLst/>
          </a:prstGeom>
          <a:solidFill>
            <a:srgbClr val="5B718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55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923544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integrado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3291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Executaremos `node arquivo.js` diretamente de dentro do VSCode.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consumir um serviço SOAP público de exemplo e, em seguida, construir o nosso próprio servidor.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Preparando o ambiente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7380"/>
            <a:ext cx="548640" cy="548640"/>
          </a:xfrm>
          <a:prstGeom prst="ellipse">
            <a:avLst/>
          </a:prstGeom>
          <a:solidFill>
            <a:srgbClr val="1129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7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o Node.js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0" y="1847088"/>
            <a:ext cx="6172200" cy="649224"/>
          </a:xfrm>
          <a:prstGeom prst="roundRect">
            <a:avLst>
              <a:gd name="adj" fmla="val 8451"/>
            </a:avLst>
          </a:prstGeom>
          <a:solidFill>
            <a:srgbClr val="0B1E33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847088"/>
            <a:ext cx="5806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Baixe em nodejs.org (versão LTS) e confirme com `node -v` no terminal.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948940"/>
            <a:ext cx="548640" cy="548640"/>
          </a:xfrm>
          <a:prstGeom prst="ellipse">
            <a:avLst/>
          </a:prstGeom>
          <a:solidFill>
            <a:srgbClr val="11294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48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60020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a pasta do projeto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0" y="2898648"/>
            <a:ext cx="6172200" cy="649224"/>
          </a:xfrm>
          <a:prstGeom prst="roundRect">
            <a:avLst>
              <a:gd name="adj" fmla="val 8451"/>
            </a:avLst>
          </a:prstGeom>
          <a:solidFill>
            <a:srgbClr val="0B1E33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898648"/>
            <a:ext cx="5806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aula-soap &amp;&amp; cd aula-soap — e abra a pasta no VSCode com `code .`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00500"/>
            <a:ext cx="548640" cy="548640"/>
          </a:xfrm>
          <a:prstGeom prst="ellipse">
            <a:avLst/>
          </a:prstGeom>
          <a:solidFill>
            <a:srgbClr val="1129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00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160020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Inicializar o projeto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0" y="3950208"/>
            <a:ext cx="6172200" cy="649224"/>
          </a:xfrm>
          <a:prstGeom prst="roundRect">
            <a:avLst>
              <a:gd name="adj" fmla="val 8451"/>
            </a:avLst>
          </a:prstGeom>
          <a:solidFill>
            <a:srgbClr val="0B1E33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950208"/>
            <a:ext cx="5806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Rode `npm init -y` para criar o package.json automaticamente.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052060"/>
            <a:ext cx="548640" cy="548640"/>
          </a:xfrm>
          <a:prstGeom prst="ellipse">
            <a:avLst/>
          </a:prstGeom>
          <a:solidFill>
            <a:srgbClr val="1129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52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1600200" y="4983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o pacote soap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029200" y="5001768"/>
            <a:ext cx="6172200" cy="649224"/>
          </a:xfrm>
          <a:prstGeom prst="roundRect">
            <a:avLst>
              <a:gd name="adj" fmla="val 8451"/>
            </a:avLst>
          </a:prstGeom>
          <a:solidFill>
            <a:srgbClr val="0B1E33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5001768"/>
            <a:ext cx="5806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Rode `npm install soap` no terminal integrado do VSCode.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projeto no VSCode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aula-soap/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raiz do projeto, aberta diretamente no VSCode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pelo npm init — controla dependências e scripts do projeto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cliente.js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que vamos escrever para consumir um Web Service SOAP público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servidor.js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onde construiremos nosso próprio Web Service SOAP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node_modules/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automaticamente ao instalar o pacote `soap` via npm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0B1E3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— VSCODE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0" y="219456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aula-soap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package.json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package-lock.json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cliente.js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servidor.js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node_modules/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Consumindo um serviço SOAP: o WSDL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consumo começa pelo WSDL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URL do WSDL que informa ao nosso código quais operações existem e como chamá-las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exemplo desta aula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usar um Web Service público clássico de conversão de números para extenso (NumberToWords), disponível em XML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 WSDL termina, geralmente, em ?WSDL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http://www.dataaccess.com/webservicesserver/NumberConversion.wso?WSDL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biblioteca `soap` faz o trabalho pesado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lê o WSDL, entende as operações disponíveis e gera um cliente JavaScript pronto para uso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SOAP em JavaScript — criando a conexão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createClientAsync() lê o WSDL e monta dinamicamente os métodos disponíveis no objeto client.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617720"/>
          </a:xfrm>
          <a:prstGeom prst="roundRect">
            <a:avLst>
              <a:gd name="adj" fmla="val 1584"/>
            </a:avLst>
          </a:prstGeom>
          <a:solidFill>
            <a:srgbClr val="0B1E3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9659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10424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cliente.js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soap = require('soap');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url =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'http://www.dataaccess.com/webservicesserver/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NumberConversion.wso?WSDL';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main() {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Cria o cliente a partir do WSDL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client = await soap.createClientAsync(url);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Lista as operações disponíveis (debug)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console.log(client.describe());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Chamando a operação e tratando a resposta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args mapeia diretamente para os parâmetros definidos no XML Schema do WSDL.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617720"/>
          </a:xfrm>
          <a:prstGeom prst="roundRect">
            <a:avLst>
              <a:gd name="adj" fmla="val 1584"/>
            </a:avLst>
          </a:prstGeom>
          <a:solidFill>
            <a:srgbClr val="0B1E3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9659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10424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continuando dentro de main()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args = { ubiNum: 500 };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client.NumberToWords(args, (err, result) =&gt; {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(err) {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console.error('Erro na chamada SOAP:', err);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console.log('Resposta:', result);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{ NumberToWordsResult: 'five hundred ' }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Terminal: node cliente.js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DEPURANDO NO VSCODE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Rodando e interpretando o resultado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no terminal integrado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VSCode: Terminal → New Terminal → node cliente.js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console.log(client.describe()) para explorar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todas as operações, parâmetros e tipos esperados — ótimo para entender um WSDL desconhecido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sempre o parâmetro err primeiro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de rede podem falhar por timeout, WSDL inválido ou serviço fora do ar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depuração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breakpoints no VSCode (clique à esquerda do número da linha) para inspecionar `result` passo a passo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nosso próprio servidor SOAP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invertendo o papel: seremos o provedor do serviço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expor uma operação simples: calcular o preço com desconto de um produto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peças necessárias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Um objeto JavaScript com a lógica do serviço  2) Um XML WSDL descrevendo o contrato  3) Um servidor HTTP para hospedar tudo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biblioteca soap cuida do "encanamento"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soap.listen() conecta nosso objeto de serviço ao servidor HTTP, interpretando as mensagens SOAP recebidas automaticamente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Definindo o serviço (lógica de negócio)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`service` espelha exatamente a estrutura service → port → operação definida no WSDL.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617720"/>
          </a:xfrm>
          <a:prstGeom prst="roundRect">
            <a:avLst>
              <a:gd name="adj" fmla="val 1584"/>
            </a:avLst>
          </a:prstGeom>
          <a:solidFill>
            <a:srgbClr val="0B1E3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9659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10424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servidor.js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soap = require('soap');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http = require('http');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fs = require('fs');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Lógica real do serviço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service = {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ProdutoService: {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ProdutoPort: {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CalcularDesconto: function (args) {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{ preco, percentual } = args;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final = preco - (preco * percentual / 100);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 precoFinal: final.toFixed(2) };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Publicando o serviço com soap.listen()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rodar, o próprio pacote soap expõe o WSDL automaticamente na URL indicada.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617720"/>
          </a:xfrm>
          <a:prstGeom prst="roundRect">
            <a:avLst>
              <a:gd name="adj" fmla="val 1584"/>
            </a:avLst>
          </a:prstGeom>
          <a:solidFill>
            <a:srgbClr val="0B1E3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9659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40280"/>
            <a:ext cx="10424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XML do contrato (WSDL) salvo em produto.wsdl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xml = fs.readFileSync('produto.wsdl', 'utf8');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Servidor HTTP simples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http.createServer((req, res) =&gt; {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res.end('Serviço SOAP no ar');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server.listen(8000, () =&gt; {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Conecta a lógica ao servidor, usando o WSDL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soap.listen(server, '/produto', service, xml);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'WSDL disponível em: http://localhost:8000/produto?wsdl'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Terminal: node servidor.js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Testando nosso servidor SOAP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Suba o servidor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 do VSCode: node servidor.js — deixe essa aba de terminal rodando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Confira o WSDL gerado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http://localhost:8000/produto?wsdl no navegador para ver o contrato publicado automaticamente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Escreva um segundo cliente apontando para localhost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Reaproveite o cliente.js, trocando a URL do WSDL para a do nosso próprio servidor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Ferramentas alternativas de teste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SoapUI ou extensões de VSCode para SOAP/XML também permitem montar e enviar requisições manualmente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EEF3F8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TERMINAIS NO VSCODE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0" y="224028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0B1E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2606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servidor.js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WSDL disponível em: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localhost:8000/produto?wsdl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0" y="397764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0B1E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4343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cliente.js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Resposta: { precoFinal: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'85.00' 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1294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697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e encerramento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proposto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Escolha um WSDL público diferente do usado em aula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com client.describe() todas as operações disponíveis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Amplie o servidor.js com uma segunda operação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ConsultarProduto, que retorna nome e preço a partir de um código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Provoque um erro proposital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um parâmetro inválido e observe a estrutura do SOAP Fault retornado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Documente o contrato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à mão o WSDL da nova operação, reforçando a seção &lt;types&gt; com XML Schema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5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 terminal com cliente e servidor rodando + o arquivo .wsdl comentado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 APROFUNDAR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9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e materiais complementares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129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— SOAP 1.2 Specification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oficial do protocolo (w3.org/TR/soap12)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7190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— WSDL 2.0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21214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oficial do WSDL (w3.org/TR/wsdl20)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1363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do pacote soap (npm)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387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npmjs.com/package/soap — referência da biblioteca usada em aula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200400"/>
            <a:ext cx="457200" cy="457200"/>
          </a:xfrm>
          <a:prstGeom prst="ellipse">
            <a:avLst/>
          </a:prstGeom>
          <a:solidFill>
            <a:srgbClr val="11294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31363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— WS-Security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35387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de segurança em nível de mensagem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45537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 Fielding — Dissertação REST (2000)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9560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original que define os princípios REST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3891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6177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5537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2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 NF-e (SEFAZ)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49560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 de Web Services SOAP em produção no Brasil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II  |  Web Services SOAP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4041</Words>
  <Application>Microsoft Office PowerPoint</Application>
  <PresentationFormat>Widescreen</PresentationFormat>
  <Paragraphs>638</Paragraphs>
  <Slides>38</Slides>
  <Notes>38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Bruno Fischer</cp:lastModifiedBy>
  <cp:revision>2</cp:revision>
  <dcterms:created xsi:type="dcterms:W3CDTF">2026-08-24T01:57:39Z</dcterms:created>
  <dcterms:modified xsi:type="dcterms:W3CDTF">2026-08-25T01:05:31Z</dcterms:modified>
</cp:coreProperties>
</file>